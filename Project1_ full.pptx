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279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3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REPORT  ·  INDIA  · 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Behaviour &amp;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Snacking Brands — India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29260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429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  ·  Too Yumm  ·  Slurrp Farm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3474720" cy="804672"/>
          </a:xfrm>
          <a:prstGeom prst="rect">
            <a:avLst/>
          </a:prstGeom>
          <a:solidFill>
            <a:srgbClr val="E8603C">
              <a:alpha val="15000"/>
            </a:srgbClr>
          </a:solidFill>
          <a:ln w="12700">
            <a:solidFill>
              <a:srgbClr val="E8603C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1696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Ayaan Ansari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— Core Marketing  ·  Fresh Graduate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Ayaan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Ansari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2084832"/>
            <a:ext cx="1005840" cy="4572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2128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— Core Marketing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Graduate, 2026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3108960"/>
            <a:ext cx="1463040" cy="292608"/>
          </a:xfrm>
          <a:prstGeom prst="rect">
            <a:avLst/>
          </a:prstGeom>
          <a:solidFill>
            <a:srgbClr val="E8603C">
              <a:alpha val="25000"/>
            </a:srgbClr>
          </a:solidFill>
          <a:ln w="12700">
            <a:solidFill>
              <a:srgbClr val="E8603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108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3108960"/>
            <a:ext cx="1463040" cy="292608"/>
          </a:xfrm>
          <a:prstGeom prst="rect">
            <a:avLst/>
          </a:prstGeom>
          <a:solidFill>
            <a:srgbClr val="E8603C">
              <a:alpha val="25000"/>
            </a:srgbClr>
          </a:solidFill>
          <a:ln w="12700">
            <a:solidFill>
              <a:srgbClr val="E8603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3108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1463040" cy="292608"/>
          </a:xfrm>
          <a:prstGeom prst="rect">
            <a:avLst/>
          </a:prstGeom>
          <a:solidFill>
            <a:srgbClr val="E8603C">
              <a:alpha val="25000"/>
            </a:srgbClr>
          </a:solidFill>
          <a:ln w="12700">
            <a:solidFill>
              <a:srgbClr val="E8603C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520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74520" y="3520440"/>
            <a:ext cx="1463040" cy="292608"/>
          </a:xfrm>
          <a:prstGeom prst="rect">
            <a:avLst/>
          </a:prstGeom>
          <a:solidFill>
            <a:srgbClr val="E8603C">
              <a:alpha val="25000"/>
            </a:srgbClr>
          </a:solidFill>
          <a:ln w="12700">
            <a:solidFill>
              <a:srgbClr val="E8603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520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1463040" cy="292608"/>
          </a:xfrm>
          <a:prstGeom prst="rect">
            <a:avLst/>
          </a:prstGeom>
          <a:solidFill>
            <a:srgbClr val="E8603C">
              <a:alpha val="25000"/>
            </a:srgbClr>
          </a:solidFill>
          <a:ln w="12700">
            <a:solidFill>
              <a:srgbClr val="E8603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931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49040" y="3474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This Report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3749040" y="877824"/>
            <a:ext cx="5029200" cy="27432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058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was independently researched as a self-initiated market research project. With a natural inclination toward consumer behaviour and market strategy, I undertook this study to develop a hands-on understanding of how D2C brands compete in India's fast-growing healthy snacking space — going beyond textbook theory to work with real consumer data, platform intelligence, and search trends.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2651760"/>
            <a:ext cx="2377440" cy="987552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749040" y="3200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Analysed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55080" y="2651760"/>
            <a:ext cx="2377440" cy="987552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55080" y="3200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Studied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49040" y="3794760"/>
            <a:ext cx="2377440" cy="987552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749040" y="4343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55080" y="3794760"/>
            <a:ext cx="2377440" cy="987552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55080" y="4343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Healthy Snacking Category — The Opportunity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2651760" cy="1417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3502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20%+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snacking market growth in India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55848" y="1261872"/>
            <a:ext cx="2651760" cy="1417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33502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₹28,000 Cr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355848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55848" y="2249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salted snack market value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54496" y="1261872"/>
            <a:ext cx="2651760" cy="141732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133502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India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254496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Driver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4496" y="2249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health consciousness 25–40 age group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This Report Answers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rapid market growth, most healthy snacking brands in India either overprice their products — losing mass market appeal — or underdeliver on genuine health credentials, losing consumer trust. This report investigates how the top 3 D2C healthy snacking brands are positioned across consumer sentiment, pricing, platform presence, and social media — and identifies the gaps a challenger brand can exploit.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 sources. Real numbers. No assumptions.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4023360" cy="1143000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54864" cy="11430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350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3350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 Mining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673352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10,000+ consumer ratings using Amazon's AI-generated category tags — Taste, Quality, Healthiness, Value for Money, Ingredients and more.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4023360" cy="1143000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61872"/>
            <a:ext cx="54864" cy="11430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350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67528" y="13350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Mapping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673352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brand presence across Amazon, Flipkart, Blinkit, Zepto, JioMart, Swiggy Instamart and D2C websites to identify primary sales channels.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4023360" cy="1143000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23744"/>
            <a:ext cx="54864" cy="11430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968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25968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Analysis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2935224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52 weeks of search interest across all 3 brands in India — national timeline plus state-wise regional breakdown across 25+ states.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2523744"/>
            <a:ext cx="4023360" cy="1143000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523744"/>
            <a:ext cx="54864" cy="11430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5968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25968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Discount 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935224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price-per-gram across top products and tracked discount patterns on Amazon to understand each brand's pricing strategy.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785616"/>
            <a:ext cx="4023360" cy="1143000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85616"/>
            <a:ext cx="54864" cy="11430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58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Audit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197096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Instagram follower counts, engagement rates, posting frequency and content strategy across all 3 brand accounts.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785616"/>
            <a:ext cx="4023360" cy="1143000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85616"/>
            <a:ext cx="54864" cy="114300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58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67528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vs Reality Gap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4197096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what brands post against what consumers say in reviews — identifying where brands are missing the mark.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Profiles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snapshot — Yoga Bar  ·  Too Yumm  ·  Slurrp Farm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265176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Bar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645920" cy="246888"/>
          </a:xfrm>
          <a:prstGeom prst="rect">
            <a:avLst/>
          </a:prstGeom>
          <a:solidFill>
            <a:srgbClr val="2E86C1">
              <a:alpha val="15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Health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03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63040" y="2203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63040" y="26060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Multigrain Energy Bar (10pk)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953512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008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Rating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63040" y="30083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⭐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355848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63040" y="34107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7,767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58184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13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63040" y="38130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+ D2C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215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Price/pack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63040" y="42153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₹189–229 / pack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562856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617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Price/gram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63040" y="4617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₹0.65–1.00/g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55848" y="1261872"/>
            <a:ext cx="265176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1261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Yumm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58768" y="1828800"/>
            <a:ext cx="1645920" cy="246888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18288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Market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55848" y="2148840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203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361688" y="2203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55848" y="2551176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361688" y="26060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Multigrain Chips (21g)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55848" y="2953512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3008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Rating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61688" y="30083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⭐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55848" y="3355848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361688" y="34107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 (fragmented)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55848" y="3758184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29000" y="3813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361688" y="38130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Retail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55848" y="4160520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9000" y="4215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Price/pack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361688" y="42153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₹5–10 / pack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355848" y="4562856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29000" y="4617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Price/gram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361688" y="4617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₹0.24–0.48/g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54496" y="1261872"/>
            <a:ext cx="265176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54496" y="12618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Slurrp Farm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757416" y="1828800"/>
            <a:ext cx="1645920" cy="246888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57416" y="18288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Kids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54496" y="2148840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2203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260336" y="22037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54496" y="2551176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7648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260336" y="26060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Mighty Jowar Puffs (6pk)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54496" y="2953512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27648" y="3008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Rating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260336" y="300837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⭐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54496" y="3355848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27648" y="3410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260336" y="34107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1,890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54496" y="3758184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27648" y="3813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260336" y="38130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54496" y="4160520"/>
            <a:ext cx="2651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27648" y="4215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Price/pack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260336" y="42153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₹224–373 / pack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254496" y="4562856"/>
            <a:ext cx="2651760" cy="384048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27648" y="4617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Price/gram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260336" y="4617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₹1.80–3.10/g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Sentiment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10,000+ Amazon ratings actually tell us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Ratings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7,767 ratings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905256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19751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4★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1520" y="2322576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322576"/>
            <a:ext cx="378562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228600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59689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3★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1520" y="2633472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633472"/>
            <a:ext cx="197510" cy="173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25968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290779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2★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944368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944368"/>
            <a:ext cx="65837" cy="1737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4872" y="29077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321868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1★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31520" y="3255264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255264"/>
            <a:ext cx="98755" cy="1737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321868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55848" y="15179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Yumm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55848" y="17647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 ratings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55848" y="197510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30168" y="2011680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30168" y="2011680"/>
            <a:ext cx="954634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19751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55848" y="22860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4★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30168" y="2322576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30168" y="2322576"/>
            <a:ext cx="345643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228600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55848" y="259689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3★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30168" y="2633472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30168" y="2633472"/>
            <a:ext cx="197510" cy="173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5968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55848" y="290779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2★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30168" y="2944368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30168" y="2944368"/>
            <a:ext cx="65837" cy="1737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29077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55848" y="321868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1★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30168" y="3255264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30168" y="3255264"/>
            <a:ext cx="82296" cy="1737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321868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54496" y="15179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Slurrp Farm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54496" y="17647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1,890 ratings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54496" y="197510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528816" y="2011680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28816" y="2011680"/>
            <a:ext cx="987552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02168" y="19751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254496" y="22860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4★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528816" y="2322576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28816" y="2322576"/>
            <a:ext cx="345643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02168" y="228600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54496" y="259689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3★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528816" y="2633472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28816" y="2633472"/>
            <a:ext cx="164592" cy="173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02168" y="25968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254496" y="290779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2★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528816" y="2944368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28816" y="2944368"/>
            <a:ext cx="49378" cy="1737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02168" y="29077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54496" y="321868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1★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528816" y="3255264"/>
            <a:ext cx="164592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28816" y="3255264"/>
            <a:ext cx="98755" cy="1737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02168" y="321868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7200" y="3621024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3712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Review Category Mentions — Yoga Bar (7,767 ratings)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58368" y="4315968"/>
            <a:ext cx="1005840" cy="5303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4096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57200" y="4864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075688" y="4541520"/>
            <a:ext cx="1005840" cy="304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74520" y="4322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874520" y="4864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493008" y="4626864"/>
            <a:ext cx="1005840" cy="219456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91840" y="4407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291840" y="4864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Healthiness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910328" y="4698274"/>
            <a:ext cx="1005840" cy="14804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09160" y="447881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709160" y="4864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Money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327648" y="4734850"/>
            <a:ext cx="1005840" cy="11147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26480" y="451539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126480" y="4864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744968" y="4763589"/>
            <a:ext cx="1005840" cy="82731"/>
          </a:xfrm>
          <a:prstGeom prst="rect">
            <a:avLst/>
          </a:prstGeom>
          <a:solidFill>
            <a:srgbClr val="8C9BAB"/>
          </a:solidFill>
          <a:ln w="12700">
            <a:solidFill>
              <a:srgbClr val="8C9BA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43800" y="4544133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543800" y="4864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Demand &amp; Regional Interest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— India — April 2025 to April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1874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187452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261872"/>
            <a:ext cx="1874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261872"/>
            <a:ext cx="1874520" cy="64008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7160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1874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Feb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1874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61872"/>
            <a:ext cx="187452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7160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Slurrp Farm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261872"/>
            <a:ext cx="1874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261872"/>
            <a:ext cx="1874520" cy="64008"/>
          </a:xfrm>
          <a:prstGeom prst="rect">
            <a:avLst/>
          </a:prstGeom>
          <a:solidFill>
            <a:srgbClr val="8C9BAB"/>
          </a:solidFill>
          <a:ln w="12700">
            <a:solidFill>
              <a:srgbClr val="8C9B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37160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9B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1874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Yumm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from Trend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81635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8346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 dominates search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of 53 vs Too Yumm's 2 — a 26x awareness gap. Peak of 100 in Feb 2026 signals a major campaign or launch moment.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54864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4930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Yumm is digitally invisible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730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search score of just 2 across 52 weeks. Almost no organic digital interest — confirms offline-first strategy.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54864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1513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Slurrp Farm is flat but loyal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" y="4389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11–14 all year — consistent niche following with no breakout growth moment in 12 months.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solidFill>
            <a:srgbClr val="1F4E79">
              <a:alpha val="12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7914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Regional: Yoga Bar leads all 25+ states  ·  Slurrp Farm strongest South India (Goa 31%, Tamil Nadu 25%)  ·  Maharashtra: Yoga Bar 81%, Too Yumm 2%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&amp; Social Media Audit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brands compete on price — and where they win or lose on content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Per Gram Comparison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Yumm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84832" y="1609344"/>
            <a:ext cx="201168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1609344"/>
            <a:ext cx="281635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5727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₹0.24–0.48/g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15727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Impulse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84832" y="2139696"/>
            <a:ext cx="201168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2139696"/>
            <a:ext cx="804672" cy="17373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1031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₹0.65–1.00/g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21031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Mid-Premium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Slurrp Farm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84832" y="2670048"/>
            <a:ext cx="2011680" cy="1737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2670048"/>
            <a:ext cx="2011680" cy="173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6334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₹1.80–3.10/g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26334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29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64208" y="3749040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07792" y="3749040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68496" y="3749040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Likes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0" y="37490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Posts/Week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53328" y="37490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Rate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6620256" cy="18288"/>
          </a:xfrm>
          <a:prstGeom prst="rect">
            <a:avLst/>
          </a:prstGeom>
          <a:solidFill>
            <a:srgbClr val="1F4E79">
              <a:alpha val="30000"/>
            </a:srgbClr>
          </a:solidFill>
          <a:ln w="12700">
            <a:solidFill>
              <a:srgbClr val="1F4E79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69080"/>
            <a:ext cx="6620256" cy="310896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056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64208" y="410565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@yogabar.in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07792" y="410565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68496" y="410565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1.5K–3K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4105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3–4/week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53328" y="4105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407408"/>
            <a:ext cx="662025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43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Yumm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64208" y="444398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@tooyumm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07792" y="44439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68496" y="444398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500–1.2K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0" y="4443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2–3/week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53328" y="4443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745736"/>
            <a:ext cx="6620256" cy="310896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823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Slurrp Farm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664208" y="478231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@slurrpfarm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07792" y="478231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968496" y="478231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2K–5K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0" y="4782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4–5/week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53328" y="4782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05472" y="1207008"/>
            <a:ext cx="1481328" cy="3401568"/>
          </a:xfrm>
          <a:prstGeom prst="rect">
            <a:avLst/>
          </a:prstGeom>
          <a:solidFill>
            <a:srgbClr val="E8603C">
              <a:alpha val="10000"/>
            </a:srgbClr>
          </a:solidFill>
          <a:ln w="12700">
            <a:solidFill>
              <a:srgbClr val="E8603C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60336" y="12801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60336" y="1591056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brands have similar engagement (~1.1–1.2%). Nobody is winning on engagement. Working professionals are ignored by all 3.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vs Reality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brands post on social media vs what consumers actually care about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7432"/>
          </a:xfrm>
          <a:prstGeom prst="rect">
            <a:avLst/>
          </a:prstGeom>
          <a:solidFill>
            <a:srgbClr val="1F4E79">
              <a:alpha val="2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1325880" cy="1143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Bar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3167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say: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874520" y="151790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is #1 (609 mentions) — consumers love the flavour above everything else including health claims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0" y="13167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posts: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0" y="151790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routines, nutrition science, protein content, product launches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0" y="1335024"/>
            <a:ext cx="2176272" cy="987552"/>
          </a:xfrm>
          <a:prstGeom prst="rect">
            <a:avLst/>
          </a:prstGeom>
          <a:solidFill>
            <a:srgbClr val="E8603C">
              <a:alpha val="12000"/>
            </a:srgbClr>
          </a:solidFill>
          <a:ln w="12700">
            <a:solidFill>
              <a:srgbClr val="E8603C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55664" y="1554480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talks science. Consumer wants taste-first content.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23744"/>
            <a:ext cx="1325880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Yumm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578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say: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74520" y="27797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'Baked not fried' resonates strongly — health claim is the key purchase driver consumers mention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0" y="2578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posts: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0" y="27797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Celebrity ads, bold visuals, mass appeal campaigns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0" y="2596896"/>
            <a:ext cx="2176272" cy="987552"/>
          </a:xfrm>
          <a:prstGeom prst="rect">
            <a:avLst/>
          </a:prstGeom>
          <a:solidFill>
            <a:srgbClr val="E8603C">
              <a:alpha val="12000"/>
            </a:srgbClr>
          </a:solidFill>
          <a:ln w="12700">
            <a:solidFill>
              <a:srgbClr val="E8603C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61518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55664" y="2816352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underuses its strongest consumer message in favour of celeb reach.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785616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85616"/>
            <a:ext cx="1325880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879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Slurrp Farm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3840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say: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874520" y="40416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money is #1 complaint — 'too expensive' repeated constantly in negative reviews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0" y="3840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posts: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114800" y="40416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kids, recipes, mom testimonials, wholesome family content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3858768"/>
            <a:ext cx="2176272" cy="987552"/>
          </a:xfrm>
          <a:prstGeom prst="rect">
            <a:avLst/>
          </a:prstGeom>
          <a:solidFill>
            <a:srgbClr val="E8603C">
              <a:alpha val="12000"/>
            </a:srgbClr>
          </a:solidFill>
          <a:ln w="12700">
            <a:solidFill>
              <a:srgbClr val="E8603C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387705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55664" y="4078224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never acknowledges or addresses the price complaint publicly.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Gap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gaps identified — and where a challenger brand fits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0505" y="1261872"/>
            <a:ext cx="4023360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54864" cy="169164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533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35331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Audience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85216" y="1682496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 targets fitness. Slurrp Farm targets parents. Too Yumm targets mass youth.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85216" y="2249424"/>
            <a:ext cx="3767328" cy="59436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86000"/>
            <a:ext cx="3694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Working professionals 30–35+ — high income, health-aware, time-starved. Ignored by all 3 brands.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1271016"/>
            <a:ext cx="4023360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4800600" y="1261872"/>
            <a:ext cx="54864" cy="169164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3533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26380" y="1353312"/>
            <a:ext cx="3406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Health Balance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28616" y="1682496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= premium (Yoga Bar, Slurrp Farm). Affordable = questionable health (Too Yumm).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28616" y="2249424"/>
            <a:ext cx="3767328" cy="59436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286000"/>
            <a:ext cx="3694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Accessible pricing with genuine health credentials — the gap no brand currently owns.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4023360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90672"/>
            <a:ext cx="54864" cy="169164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3182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9264" y="318211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Reliability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5216" y="3511296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Slurrp Farm taste polarising. Too Yumm praised but health claims feel thin to consumers.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5216" y="4078224"/>
            <a:ext cx="3767328" cy="59436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114800"/>
            <a:ext cx="3694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Consistent great taste WITH transparent health credentials — the non-negotiable baseline.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3090672"/>
            <a:ext cx="4023360" cy="16916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090672"/>
            <a:ext cx="54864" cy="169164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3182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30952" y="318211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Online-First Strategy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28616" y="3511296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Yumm has almost no D2C presence. Yoga Bar is over-dependent on Amazon alone.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28616" y="4078224"/>
            <a:ext cx="3767328" cy="594360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4114800"/>
            <a:ext cx="3694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Balanced omnichannel — Amazon + Blinkit + D2C with equal investment from day one.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Strategic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713232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54864" cy="713232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Bar dominates — but has a price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7,767 Amazon reviews and search peak of 100, Yoga Bar owns the category. But Value for Money is consistently flagged — an opening for any well-priced challenger.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83664"/>
            <a:ext cx="54864" cy="713232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56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9568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Yumm is exposed as D2C grows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24942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Yumm owns offline retail but is critically underinvested online (avg search score: 2, Amazon reviews: 374). As Indian consumers shift to e-commerce this gap becomes a serious vulnerability.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24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724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Slurrp Farm has loyalty but not scale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five-star ratings — highest of the 3. But taste polarisation and premium pricing (₹1.8–3.1/g) cap mass market potential. Loyal but not growing.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930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4930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 are completely ignored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378561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brand speaks directly to working professionals 30–35+ the highest-spending, most health-aware urban segment. This is the single biggest gap in the market.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8229600" cy="713232"/>
          </a:xfrm>
          <a:prstGeom prst="rect">
            <a:avLst/>
          </a:prstGeom>
          <a:solidFill>
            <a:srgbClr val="F0F3F6"/>
          </a:solidFill>
          <a:ln w="12700">
            <a:solidFill>
              <a:srgbClr val="F0F3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87952"/>
            <a:ext cx="54864" cy="713232"/>
          </a:xfrm>
          <a:prstGeom prst="rect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61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formula is clear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553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taste first + honest health credentials + accessible pricing (₹0.80–1.20/g) + online-first distribution + content that speaks to professionals not gym-goers.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Ayaan Ansari  ·  BMS Core Marketing  ·  Self-Initiated Research Project  ·  May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1474</Words>
  <Application>Microsoft Office PowerPoint</Application>
  <PresentationFormat>On-screen Show (16:9)</PresentationFormat>
  <Paragraphs>295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Behaviour &amp; Competitive Intelligence Report</dc:title>
  <dc:subject>PptxGenJS Presentation</dc:subject>
  <dc:creator>Ayaan Ansari</dc:creator>
  <cp:lastModifiedBy>ayaan ansari</cp:lastModifiedBy>
  <cp:revision>3</cp:revision>
  <dcterms:created xsi:type="dcterms:W3CDTF">2026-04-30T23:15:01Z</dcterms:created>
  <dcterms:modified xsi:type="dcterms:W3CDTF">2026-05-05T14:12:47Z</dcterms:modified>
</cp:coreProperties>
</file>